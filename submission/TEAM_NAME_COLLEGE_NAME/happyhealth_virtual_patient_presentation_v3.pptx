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7e36dbc1184aba" /><Relationship Type="http://schemas.openxmlformats.org/officeDocument/2006/relationships/extended-properties" Target="/docProps/app.xml" Id="Rafd856c17bb14809" /><Relationship Type="http://schemas.openxmlformats.org/officeDocument/2006/relationships/officeDocument" Target="/ppt/presentation.xml" Id="R5649c394481d43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778391c74a4c39"/>
  </p:sldMasterIdLst>
  <p:notesMasterIdLst>
    <p:notesMasterId xmlns:r="http://schemas.openxmlformats.org/officeDocument/2006/relationships" r:id="Rd947665262414be2"/>
  </p:notesMasterIdLst>
  <p:sldIdLst>
    <p:sldId xmlns:r="http://schemas.openxmlformats.org/officeDocument/2006/relationships" id="256" r:id="Rea27b70ac84641c1"/>
    <p:sldId xmlns:r="http://schemas.openxmlformats.org/officeDocument/2006/relationships" id="257" r:id="R4908a26335ac41a8"/>
    <p:sldId xmlns:r="http://schemas.openxmlformats.org/officeDocument/2006/relationships" id="258" r:id="R20e8fb9927d0497a"/>
    <p:sldId xmlns:r="http://schemas.openxmlformats.org/officeDocument/2006/relationships" id="259" r:id="R391fa38fa2df4599"/>
    <p:sldId xmlns:r="http://schemas.openxmlformats.org/officeDocument/2006/relationships" id="260" r:id="R9cce7facc73a48cb"/>
    <p:sldId xmlns:r="http://schemas.openxmlformats.org/officeDocument/2006/relationships" id="261" r:id="Rf7c00aabcc1f4ffd"/>
    <p:sldId xmlns:r="http://schemas.openxmlformats.org/officeDocument/2006/relationships" id="262" r:id="R113508d27e4247ec"/>
    <p:sldId xmlns:r="http://schemas.openxmlformats.org/officeDocument/2006/relationships" id="263" r:id="Ra45eb30d7fde4b57"/>
    <p:sldId xmlns:r="http://schemas.openxmlformats.org/officeDocument/2006/relationships" id="264" r:id="R0163e710d1ca46c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9d8e5dcafe4050" /><Relationship Type="http://schemas.openxmlformats.org/officeDocument/2006/relationships/slideMaster" Target="/ppt/slideMasters/slideMaster1.xml" Id="R04778391c74a4c39" /><Relationship Type="http://schemas.openxmlformats.org/officeDocument/2006/relationships/notesMaster" Target="/ppt/notesMasters/notesMaster1.xml" Id="Rd947665262414be2" /><Relationship Type="http://schemas.openxmlformats.org/officeDocument/2006/relationships/presProps" Target="/ppt/presProps.xml" Id="R3f50cadd1cb14c32" /><Relationship Type="http://schemas.openxmlformats.org/officeDocument/2006/relationships/tableStyles" Target="/ppt/tableStyles.xml" Id="R1bba857178d4401e" /><Relationship Type="http://schemas.openxmlformats.org/officeDocument/2006/relationships/slide" Target="/ppt/slides/slide1.xml" Id="Rea27b70ac84641c1" /><Relationship Type="http://schemas.openxmlformats.org/officeDocument/2006/relationships/slide" Target="/ppt/slides/slide2.xml" Id="R4908a26335ac41a8" /><Relationship Type="http://schemas.openxmlformats.org/officeDocument/2006/relationships/slide" Target="/ppt/slides/slide3.xml" Id="R20e8fb9927d0497a" /><Relationship Type="http://schemas.openxmlformats.org/officeDocument/2006/relationships/slide" Target="/ppt/slides/slide4.xml" Id="R391fa38fa2df4599" /><Relationship Type="http://schemas.openxmlformats.org/officeDocument/2006/relationships/slide" Target="/ppt/slides/slide5.xml" Id="R9cce7facc73a48cb" /><Relationship Type="http://schemas.openxmlformats.org/officeDocument/2006/relationships/slide" Target="/ppt/slides/slide6.xml" Id="Rf7c00aabcc1f4ffd" /><Relationship Type="http://schemas.openxmlformats.org/officeDocument/2006/relationships/slide" Target="/ppt/slides/slide7.xml" Id="R113508d27e4247ec" /><Relationship Type="http://schemas.openxmlformats.org/officeDocument/2006/relationships/slide" Target="/ppt/slides/slide8.xml" Id="Ra45eb30d7fde4b57" /><Relationship Type="http://schemas.openxmlformats.org/officeDocument/2006/relationships/slide" Target="/ppt/slides/slide9.xml" Id="R0163e710d1ca46c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6691851ba243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d5f13a55734def" /><Relationship Type="http://schemas.openxmlformats.org/officeDocument/2006/relationships/notesMaster" Target="/ppt/notesMasters/notesMaster1.xml" Id="R465a2fad39d1461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511670fe1d04ee5" /><Relationship Type="http://schemas.openxmlformats.org/officeDocument/2006/relationships/notesMaster" Target="/ppt/notesMasters/notesMaster1.xml" Id="Rc6ed774d21d942b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12e3fee70384b1d" /><Relationship Type="http://schemas.openxmlformats.org/officeDocument/2006/relationships/notesMaster" Target="/ppt/notesMasters/notesMaster1.xml" Id="R416bba1fc978419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a45e016f5ee4546" /><Relationship Type="http://schemas.openxmlformats.org/officeDocument/2006/relationships/notesMaster" Target="/ppt/notesMasters/notesMaster1.xml" Id="R14cca161e0594ac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e6ae79a683f4609" /><Relationship Type="http://schemas.openxmlformats.org/officeDocument/2006/relationships/notesMaster" Target="/ppt/notesMasters/notesMaster1.xml" Id="R26b7eff60884417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fab6d3299594711" /><Relationship Type="http://schemas.openxmlformats.org/officeDocument/2006/relationships/notesMaster" Target="/ppt/notesMasters/notesMaster1.xml" Id="Rc372704c9c64427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918e436f7bd4f6b" /><Relationship Type="http://schemas.openxmlformats.org/officeDocument/2006/relationships/notesMaster" Target="/ppt/notesMasters/notesMaster1.xml" Id="R353e20c89ffc48c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c39758ba6a84ec5" /><Relationship Type="http://schemas.openxmlformats.org/officeDocument/2006/relationships/notesMaster" Target="/ppt/notesMasters/notesMaster1.xml" Id="Rdea87d7e516d4ea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0abbaebd0294608" /><Relationship Type="http://schemas.openxmlformats.org/officeDocument/2006/relationships/notesMaster" Target="/ppt/notesMasters/notesMaster1.xml" Id="Ra06f5e46d37449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2ff8d11409429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aeb29f321048d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bfa9774504458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a26a6497484b4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f7a7b8a439474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ff198e4e054af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4C43667-C527-4BD0-B87C-93D3714B70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45AA358-B19E-4300-8138-1DFC9322EC5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4CA88BD-5F26-4C81-BC91-3A7B0F9EBB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E768CC1-1B0F-41AB-BDB4-5956DBA270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44BF3F4-54D9-48BD-A644-7F38BC09E0C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19787C2-1F2E-4EB6-A158-C9FCD26981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F2312CB-9319-4CD4-B6AC-77E4BF93DB6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7BBCE5A-6DB6-4DDF-B638-DC262A2A34A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4D231AA-7A9D-41A5-8003-96559FB498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6D9C723-BBF2-4A06-B403-CAE627BA441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856b5c36d94143" /><Relationship Type="http://schemas.openxmlformats.org/officeDocument/2006/relationships/slideLayout" Target="/ppt/slideLayouts/slideLayout1.xml" Id="R3a79b987059e44b9" /><Relationship Type="http://schemas.openxmlformats.org/officeDocument/2006/relationships/slideLayout" Target="/ppt/slideLayouts/slideLayout2.xml" Id="R201c05f766e4436a" /><Relationship Type="http://schemas.openxmlformats.org/officeDocument/2006/relationships/slideLayout" Target="/ppt/slideLayouts/slideLayout3.xml" Id="Rc0f00c53e80d4d05" /><Relationship Type="http://schemas.openxmlformats.org/officeDocument/2006/relationships/slideLayout" Target="/ppt/slideLayouts/slideLayout4.xml" Id="R8d8e32aa8d3c424d" /><Relationship Type="http://schemas.openxmlformats.org/officeDocument/2006/relationships/slideLayout" Target="/ppt/slideLayouts/slideLayout5.xml" Id="R573c835fcbe04025" /><Relationship Type="http://schemas.openxmlformats.org/officeDocument/2006/relationships/slideLayout" Target="/ppt/slideLayouts/slideLayout6.xml" Id="Rb7d08b8de49d478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79b987059e44b9"/>
    <p:sldLayoutId xmlns:r="http://schemas.openxmlformats.org/officeDocument/2006/relationships" id="2147483650" r:id="R201c05f766e4436a"/>
    <p:sldLayoutId xmlns:r="http://schemas.openxmlformats.org/officeDocument/2006/relationships" id="2147483651" r:id="Rc0f00c53e80d4d05"/>
    <p:sldLayoutId xmlns:r="http://schemas.openxmlformats.org/officeDocument/2006/relationships" id="2147483652" r:id="R8d8e32aa8d3c424d"/>
    <p:sldLayoutId xmlns:r="http://schemas.openxmlformats.org/officeDocument/2006/relationships" id="2147483653" r:id="R573c835fcbe04025"/>
    <p:sldLayoutId xmlns:r="http://schemas.openxmlformats.org/officeDocument/2006/relationships" id="2147483654" r:id="Rb7d08b8de49d478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e62f008418403d" /><Relationship Type="http://schemas.openxmlformats.org/officeDocument/2006/relationships/notesSlide" Target="/ppt/notesSlides/notesSlide1.xml" Id="Ref4d03676549421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9facca7eda4e8c" /><Relationship Type="http://schemas.openxmlformats.org/officeDocument/2006/relationships/notesSlide" Target="/ppt/notesSlides/notesSlide2.xml" Id="R80f69e8f343f466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a7b869c5b94f56" /><Relationship Type="http://schemas.openxmlformats.org/officeDocument/2006/relationships/notesSlide" Target="/ppt/notesSlides/notesSlide3.xml" Id="Rc7e5011639464cd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a5c3f7a9fa4eff" /><Relationship Type="http://schemas.openxmlformats.org/officeDocument/2006/relationships/notesSlide" Target="/ppt/notesSlides/notesSlide4.xml" Id="R7a50792f23c040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3212659e3c4416" /><Relationship Type="http://schemas.openxmlformats.org/officeDocument/2006/relationships/notesSlide" Target="/ppt/notesSlides/notesSlide5.xml" Id="R87a09864ec954d7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7558473b864c28" /><Relationship Type="http://schemas.openxmlformats.org/officeDocument/2006/relationships/chart" Target="/ppt/slides/charts/chart1.xml" Id="R562e83137ad24710" /><Relationship Type="http://schemas.openxmlformats.org/officeDocument/2006/relationships/notesSlide" Target="/ppt/notesSlides/notesSlide6.xml" Id="R88a37d121a5a43a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7efc36a73c49fa" /><Relationship Type="http://schemas.openxmlformats.org/officeDocument/2006/relationships/notesSlide" Target="/ppt/notesSlides/notesSlide7.xml" Id="R8a100e744bb64d9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78cce9c7c04a75" /><Relationship Type="http://schemas.openxmlformats.org/officeDocument/2006/relationships/notesSlide" Target="/ppt/notesSlides/notesSlide8.xml" Id="Rd08d68ec473642e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41906390434b4b" /><Relationship Type="http://schemas.openxmlformats.org/officeDocument/2006/relationships/notesSlide" Target="/ppt/notesSlides/notesSlide9.xml" Id="R34e28031abe2432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ROC AUC</c:v>
          </c:tx>
          <c:spPr>
            <a:solidFill xmlns:a="http://schemas.openxmlformats.org/drawingml/2006/main">
              <a:srgbClr val="0B8E69"/>
            </a:solidFill>
          </c:spPr>
          <c:cat>
            <c:strRef>
              <c:f>'Chart Data'!$A$2:$A$3</c:f>
              <c:strCache>
                <c:ptCount val="2"/>
                <c:pt idx="0">
                  <c:v>Validation</c:v>
                </c:pt>
                <c:pt idx="1">
                  <c:v>Test</c:v>
                </c:pt>
              </c:strCache>
            </c:strRef>
          </c:cat>
          <c:val>
            <c:numRef>
              <c:f>'Chart Data'!$B$2:$B$3</c:f>
              <c:numCache>
                <c:formatCode>0.0</c:formatCode>
                <c:ptCount val="2"/>
                <c:pt idx="0">
                  <c:v>0.701</c:v>
                </c:pt>
                <c:pt idx="1">
                  <c:v>0.757</c:v>
                </c:pt>
              </c:numCache>
            </c:numRef>
          </c:val>
        </c:ser>
        <c:ser>
          <c:idx val="1"/>
          <c:order val="1"/>
          <c:tx>
            <c:v>F1</c:v>
          </c:tx>
          <c:spPr>
            <a:solidFill xmlns:a="http://schemas.openxmlformats.org/drawingml/2006/main">
              <a:srgbClr val="F1B868"/>
            </a:solidFill>
          </c:spPr>
          <c:cat>
            <c:strRef>
              <c:f>'Chart Data'!$C$2:$C$3</c:f>
              <c:strCache>
                <c:ptCount val="2"/>
                <c:pt idx="0">
                  <c:v>Validation</c:v>
                </c:pt>
                <c:pt idx="1">
                  <c:v>Test</c:v>
                </c:pt>
              </c:strCache>
            </c:strRef>
          </c:cat>
          <c:val>
            <c:numRef>
              <c:f>'Chart Data'!$D$2:$D$3</c:f>
              <c:numCache>
                <c:formatCode>0.0</c:formatCode>
                <c:ptCount val="2"/>
                <c:pt idx="0">
                  <c:v>0.779</c:v>
                </c:pt>
                <c:pt idx="1">
                  <c:v>0.742</c:v>
                </c:pt>
              </c:numCache>
            </c:numRef>
          </c:val>
        </c:ser>
        <c:dLbls>
          <c:numFmt formatCode="0.000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FE0DA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0.2"/>
      </c:valAx>
    </c:plotArea>
    <c:legend>
      <c:legendPos val="b"/>
      <c:overlay val="0"/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8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4D6E32-66B7-46CF-9BA1-0B6BC603B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66D7B2"/>
                </a:solidFill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66D7B2"/>
                </a:solidFill>
              </a:defRPr>
            </a:pPr>
            <a:r>
              <a:rPr sz="1050" b="1">
                <a:solidFill>
                  <a:srgbClr val="66D7B2"/>
                </a:solidFill>
              </a:rPr>
              <a:t>HAPPYHEALTH CHALLENGE PROTOTYPE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3BAAB0-D105-44B0-8B8E-A443317B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43050"/>
            <a:ext cx="6286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3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Virtual Patient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3C8D82-5437-4B4B-A6D9-AAF58790C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152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E69"/>
          </a:solidFill>
          <a:ln xmlns:a="http://schemas.openxmlformats.org/drawingml/2006/main" w="0">
            <a:solidFill>
              <a:srgbClr val="0B8E6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C745D5-E492-4151-8EE8-9B8C4C517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9550"/>
            <a:ext cx="619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C5D9D3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C5D9D3"/>
                </a:solidFill>
              </a:defRPr>
            </a:pPr>
            <a:r>
              <a:rPr sz="1725" b="0">
                <a:solidFill>
                  <a:srgbClr val="C5D9D3"/>
                </a:solidFill>
              </a:rPr>
              <a:t>Synthetic EHR and simulated CGM combined to forecast a post-meal glucose spike two hours in advance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94AEE5-3C8B-4429-9D7C-B894BFF2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5312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8BA79F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8BA79F"/>
                </a:solidFill>
              </a:defRPr>
            </a:pPr>
            <a:r>
              <a:rPr sz="1125" b="0">
                <a:solidFill>
                  <a:srgbClr val="8BA79F"/>
                </a:solidFill>
              </a:rPr>
              <a:t>Research prototype · No real patient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969990-BFED-4DA5-9159-EF5A821ED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714500"/>
            <a:ext cx="238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5400" b="1">
                <a:solidFill>
                  <a:srgbClr val="F1B868"/>
                </a:solidFill>
              </a:defRPr>
            </a:defPPr>
          </a:lstStyle>
          <a:p xmlns:a="http://schemas.openxmlformats.org/drawingml/2006/main">
            <a:pPr algn="ctr">
              <a:defRPr sz="5400" b="1">
                <a:solidFill>
                  <a:srgbClr val="F1B868"/>
                </a:solidFill>
              </a:defRPr>
            </a:pPr>
            <a:r>
              <a:rPr sz="5400" b="1">
                <a:solidFill>
                  <a:srgbClr val="F1B868"/>
                </a:solidFill>
              </a:rPr>
              <a:t>36%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B4E38C-B73D-4F86-8B0C-4C4085A9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003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demo spike probability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D144C4-FAA7-46A5-8F23-73F48D869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2900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0">
                <a:solidFill>
                  <a:srgbClr val="A8C0B8"/>
                </a:solidFill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A8C0B8"/>
                </a:solidFill>
              </a:defRPr>
            </a:pPr>
            <a:r>
              <a:rPr sz="1200" b="0">
                <a:solidFill>
                  <a:srgbClr val="A8C0B8"/>
                </a:solidFill>
              </a:rPr>
              <a:t>Calculated by the trained model from the canonical synthetic patient</a:t>
            </a:r>
          </a:p>
        </p:txBody>
      </p:sp>
    </p:spTree>
    <p:extLst>
      <p:ext uri="{BB962C8B-B14F-4D97-AF65-F5344CB8AC3E}">
        <p14:creationId xmlns:p14="http://schemas.microsoft.com/office/powerpoint/2010/main" val="1631307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DAEB7A-1600-45F9-8B34-6FDE32272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B2821"/>
                </a:solidFill>
              </a:defRPr>
            </a:pPr>
            <a:r>
              <a:rPr sz="2400" b="1">
                <a:solidFill>
                  <a:srgbClr val="0B2821"/>
                </a:solidFill>
              </a:rPr>
              <a:t>The clinical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9CA59D-B771-4C09-BBAC-73516505E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0DA"/>
          </a:solidFill>
          <a:ln xmlns:a="http://schemas.openxmlformats.org/drawingml/2006/main" w="0">
            <a:solidFill>
              <a:srgbClr val="CFE0D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49624D-0E11-4281-BA59-1CF16DC9D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381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1">
                <a:solidFill>
                  <a:srgbClr val="607A72"/>
                </a:solidFill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607A72"/>
                </a:solidFill>
              </a:defRPr>
            </a:pPr>
            <a:r>
              <a:rPr sz="975" b="1">
                <a:solidFill>
                  <a:srgbClr val="607A72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FFB231-48F3-4DDD-8382-3C96C408C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514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0B2821"/>
                </a:solidFill>
              </a:defRPr>
            </a:pPr>
            <a:r>
              <a:rPr sz="2850" b="1">
                <a:solidFill>
                  <a:srgbClr val="0B2821"/>
                </a:solidFill>
              </a:rPr>
              <a:t>A health record explains the person.</a:t>
            </a:r>
          </a:p>
          <a:p xmlns:a="http://schemas.openxmlformats.org/drawingml/2006/main">
            <a:pPr algn="l">
              <a:defRPr sz="2850" b="1">
                <a:solidFill>
                  <a:srgbClr val="0B2821"/>
                </a:solidFill>
              </a:defRPr>
            </a:pPr>
            <a:r>
              <a:rPr sz="2850" b="1">
                <a:solidFill>
                  <a:srgbClr val="0B2821"/>
                </a:solidFill>
              </a:rPr>
              <a:t>A wearable explains the moment.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874EBF-064F-4B79-AF86-DC899C372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607A72"/>
                </a:solidFill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07A72"/>
                </a:solidFill>
              </a:defRPr>
            </a:pPr>
            <a:r>
              <a:rPr sz="1575" b="0">
                <a:solidFill>
                  <a:srgbClr val="607A72"/>
                </a:solidFill>
              </a:rPr>
              <a:t>A useful virtual patient needs both. Static context changes slowly, while glucose can change within minutes after a meal.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EDC5EF-561C-47D2-A166-DAB401757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581150"/>
            <a:ext cx="1905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83D11B-5A2D-4860-AFCC-A75482025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5240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B8E69"/>
                </a:solidFill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0B8E69"/>
                </a:solidFill>
              </a:defRPr>
            </a:pPr>
            <a:r>
              <a:rPr sz="1050" b="1">
                <a:solidFill>
                  <a:srgbClr val="0B8E69"/>
                </a:solidFill>
              </a:rPr>
              <a:t>STATIC / HISTORICAL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C032BD-8C43-4F14-B0BE-69AA12DB4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00250"/>
            <a:ext cx="4191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B2821"/>
                </a:solidFill>
              </a:defRPr>
            </a:pPr>
            <a:r>
              <a:rPr sz="1800" b="1">
                <a:solidFill>
                  <a:srgbClr val="0B2821"/>
                </a:solidFill>
              </a:rPr>
              <a:t>Age, sex, BMI, diabetes duration, HbA1c, fasting glucose, diagnoses and medication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F7041A-F179-41EA-ADBE-69DE61B55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147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B8E69"/>
                </a:solidFill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0B8E69"/>
                </a:solidFill>
              </a:defRPr>
            </a:pPr>
            <a:r>
              <a:rPr sz="1050" b="1">
                <a:solidFill>
                  <a:srgbClr val="0B8E69"/>
                </a:solidFill>
              </a:rPr>
              <a:t>DYNAMIC / REAL TIME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A20910-C1F5-4FE0-B662-4FF5B2078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91000"/>
            <a:ext cx="4191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B2821"/>
                </a:solidFill>
              </a:defRPr>
            </a:pPr>
            <a:r>
              <a:rPr sz="1800" b="1">
                <a:solidFill>
                  <a:srgbClr val="0B2821"/>
                </a:solidFill>
              </a:rPr>
              <a:t>CGM observations arrive every 15 virtual minutes through the simulated wearable stream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EDB43A-A169-470E-AB16-39DE8F84F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607A72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607A72"/>
                </a:solidFill>
              </a:defRPr>
            </a:pPr>
            <a:r>
              <a:rPr sz="1050" b="0">
                <a:solidFill>
                  <a:srgbClr val="607A72"/>
                </a:solidFill>
              </a:rPr>
              <a:t>Prototype focus: type 2 diabetes</a:t>
            </a:r>
          </a:p>
        </p:txBody>
      </p:sp>
    </p:spTree>
    <p:extLst>
      <p:ext uri="{BB962C8B-B14F-4D97-AF65-F5344CB8AC3E}">
        <p14:creationId xmlns:p14="http://schemas.microsoft.com/office/powerpoint/2010/main" val="9123849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06976F-DD59-432E-928B-477BDAE39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B2821"/>
                </a:solidFill>
              </a:defRPr>
            </a:pPr>
            <a:r>
              <a:rPr sz="2400" b="1">
                <a:solidFill>
                  <a:srgbClr val="0B2821"/>
                </a:solidFill>
              </a:rPr>
              <a:t>Two-hour glucose spike forecast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4E8B4A-A742-47FB-951D-B1DB1DEDF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0DA"/>
          </a:solidFill>
          <a:ln xmlns:a="http://schemas.openxmlformats.org/drawingml/2006/main" w="0">
            <a:solidFill>
              <a:srgbClr val="CFE0D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D98500-B6E6-4CCE-ABE2-FBC65821A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381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1">
                <a:solidFill>
                  <a:srgbClr val="607A72"/>
                </a:solidFill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607A72"/>
                </a:solidFill>
              </a:defRPr>
            </a:pPr>
            <a:r>
              <a:rPr sz="975" b="1">
                <a:solidFill>
                  <a:srgbClr val="607A72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4C760B-B1BE-4733-994F-D42754928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6600" b="1">
                <a:solidFill>
                  <a:srgbClr val="0B8E69"/>
                </a:solidFill>
              </a:defRPr>
            </a:defPPr>
          </a:lstStyle>
          <a:p xmlns:a="http://schemas.openxmlformats.org/drawingml/2006/main">
            <a:pPr algn="l">
              <a:defRPr sz="6600" b="1">
                <a:solidFill>
                  <a:srgbClr val="0B8E69"/>
                </a:solidFill>
              </a:defRPr>
            </a:pPr>
            <a:r>
              <a:rPr sz="6600" b="1">
                <a:solidFill>
                  <a:srgbClr val="0B8E69"/>
                </a:solidFill>
              </a:rPr>
              <a:t>120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EDE39C-103C-41C2-8680-C1E7004A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1462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0B2821"/>
                </a:solidFill>
              </a:defRPr>
            </a:pPr>
            <a:r>
              <a:rPr sz="1725" b="1">
                <a:solidFill>
                  <a:srgbClr val="0B2821"/>
                </a:solidFill>
              </a:rPr>
              <a:t>minutes ahead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0DB8DA-B5EE-4188-B208-13579CB8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607A72"/>
                </a:solidFill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07A72"/>
                </a:solidFill>
              </a:defRPr>
            </a:pPr>
            <a:r>
              <a:rPr sz="1200" b="1">
                <a:solidFill>
                  <a:srgbClr val="607A72"/>
                </a:solidFill>
              </a:rPr>
              <a:t>Adverse event definition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948CBE-2D51-4422-A9D4-7290089F6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48125"/>
            <a:ext cx="3714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B2821"/>
                </a:solidFill>
              </a:defRPr>
            </a:pPr>
            <a:r>
              <a:rPr sz="2100" b="1">
                <a:solidFill>
                  <a:srgbClr val="0B2821"/>
                </a:solidFill>
              </a:rPr>
              <a:t>Glucose rises by at least 40 mg/dL after the current meal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9E1A40-6784-41CE-AFA9-75CAD5FF3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524000"/>
            <a:ext cx="1905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303837-3538-4724-848E-F2FBE3866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476375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B8E69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0B8E69"/>
                </a:solidFill>
              </a:defRPr>
            </a:pPr>
            <a:r>
              <a:rPr sz="1125" b="1">
                <a:solidFill>
                  <a:srgbClr val="0B8E69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645517-D1C0-43E1-9551-FEFCD7D5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382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B2821"/>
                </a:solidFill>
              </a:defRPr>
            </a:pPr>
            <a:r>
              <a:rPr sz="1875" b="1">
                <a:solidFill>
                  <a:srgbClr val="0B2821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89CA88-9B0E-4022-B7A0-2C220817B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57375"/>
            <a:ext cx="4429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607A72"/>
                </a:solidFill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07A72"/>
                </a:solidFill>
              </a:defRPr>
            </a:pPr>
            <a:r>
              <a:rPr sz="1350" b="0">
                <a:solidFill>
                  <a:srgbClr val="607A72"/>
                </a:solidFill>
              </a:rPr>
              <a:t>Read the synthetic patient record and recent CGM history.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E67412-E9AE-402D-AFFD-1C463982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05125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B8E69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0B8E69"/>
                </a:solidFill>
              </a:defRPr>
            </a:pPr>
            <a:r>
              <a:rPr sz="1125" b="1">
                <a:solidFill>
                  <a:srgbClr val="0B8E69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E5C574-E89D-44DE-AE22-BF78E6543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670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B2821"/>
                </a:solidFill>
              </a:defRPr>
            </a:pPr>
            <a:r>
              <a:rPr sz="1875" b="1">
                <a:solidFill>
                  <a:srgbClr val="0B2821"/>
                </a:solidFill>
              </a:rPr>
              <a:t>Forecast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66B5B8-A093-4C3C-98EE-E73CCDFC4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86125"/>
            <a:ext cx="4429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607A72"/>
                </a:solidFill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07A72"/>
                </a:solidFill>
              </a:defRPr>
            </a:pPr>
            <a:r>
              <a:rPr sz="1350" b="0">
                <a:solidFill>
                  <a:srgbClr val="607A72"/>
                </a:solidFill>
              </a:rPr>
              <a:t>Return a probability, risk band and model factors.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EB132C-65F6-4C31-B6DC-429A9C4A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333875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B8E69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0B8E69"/>
                </a:solidFill>
              </a:defRPr>
            </a:pPr>
            <a:r>
              <a:rPr sz="1125" b="1">
                <a:solidFill>
                  <a:srgbClr val="0B8E69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9DBAB9-F3FB-4561-8C2F-E5507E78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957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B2821"/>
                </a:solidFill>
              </a:defRPr>
            </a:pPr>
            <a:r>
              <a:rPr sz="1875" b="1">
                <a:solidFill>
                  <a:srgbClr val="0B2821"/>
                </a:solidFill>
              </a:rPr>
              <a:t>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67B8DF-72E7-4A99-B272-3650CB3E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14875"/>
            <a:ext cx="4429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607A72"/>
                </a:solidFill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07A72"/>
                </a:solidFill>
              </a:defRPr>
            </a:pPr>
            <a:r>
              <a:rPr sz="1350" b="0">
                <a:solidFill>
                  <a:srgbClr val="607A72"/>
                </a:solidFill>
              </a:rPr>
              <a:t>Let the doctor inspect the timeline and refresh the estimate.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76517A-BCD4-4837-AEC7-48FAE46A2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5857875"/>
            <a:ext cx="557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E87868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E87868"/>
                </a:solidFill>
              </a:defRPr>
            </a:pPr>
            <a:r>
              <a:rPr sz="1125" b="1">
                <a:solidFill>
                  <a:srgbClr val="E87868"/>
                </a:solidFill>
              </a:rPr>
              <a:t>A research estimate supports discussion. It does not prescribe treatment.</a:t>
            </a:r>
          </a:p>
        </p:txBody>
      </p:sp>
    </p:spTree>
    <p:extLst>
      <p:ext uri="{BB962C8B-B14F-4D97-AF65-F5344CB8AC3E}">
        <p14:creationId xmlns:p14="http://schemas.microsoft.com/office/powerpoint/2010/main" val="4023885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434547-E163-421A-81E6-43B052D4D705}"/>
              </a:ext>
            </a:extLst>
          </p:cNvPr>
          <p:cNvCxnSpPr>
            <a:stCxn xmlns:a="http://schemas.openxmlformats.org/drawingml/2006/main" id="10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 flipV="1">
            <a:off x="7239000" y="2928938"/>
            <a:ext cx="2714625" cy="8810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0B8E69"/>
            </a:solidFill>
            <a:prstDash val="solid"/>
            <a:head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AD9170-719D-4187-A76F-DDD29FFEECC7}"/>
              </a:ext>
            </a:extLst>
          </p:cNvPr>
          <p:cNvCxnSpPr>
            <a:stCxn xmlns:a="http://schemas.openxmlformats.org/drawingml/2006/main" id="8" idx="0"/>
            <a:endCxn xmlns:a="http://schemas.openxmlformats.org/drawingml/2006/main" id="7" idx="2"/>
          </p:cNvCxnSpPr>
          <p:nvPr/>
        </p:nvCxnSpPr>
        <p:spPr>
          <a:xfrm xmlns:a="http://schemas.openxmlformats.org/drawingml/2006/main" flipV="1">
            <a:off x="6191250" y="3619500"/>
            <a:ext cx="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B8E69"/>
            </a:solidFill>
            <a:prstDash val="solid"/>
            <a:headEnd type="arrow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5012DA-CE18-45DD-8028-7B885AAE27B5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7239000" y="2214563"/>
            <a:ext cx="571500" cy="714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0B8E69"/>
            </a:solidFill>
            <a:prstDash val="solid"/>
            <a:head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80F918-AA45-437E-964A-E3C1F645B685}"/>
              </a:ext>
            </a:extLst>
          </p:cNvPr>
          <p:cNvCxnSpPr>
            <a:stCxn xmlns:a="http://schemas.openxmlformats.org/drawingml/2006/main" id="9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7239000" y="2214563"/>
            <a:ext cx="571500" cy="714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0B8E69"/>
            </a:solidFill>
            <a:prstDash val="solid"/>
            <a:head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90F1DB-7992-4C78-9698-ACD654309BC1}"/>
              </a:ext>
            </a:extLst>
          </p:cNvPr>
          <p:cNvCxnSpPr>
            <a:stCxn xmlns:a="http://schemas.openxmlformats.org/drawingml/2006/main" id="7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4714875" y="2928938"/>
            <a:ext cx="428625" cy="976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0B8E69"/>
            </a:solidFill>
            <a:prstDash val="solid"/>
            <a:head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A62B45-0BEB-4F0C-A3FE-85AC1E0B42F9}"/>
              </a:ext>
            </a:extLst>
          </p:cNvPr>
          <p:cNvCxnSpPr>
            <a:stCxn xmlns:a="http://schemas.openxmlformats.org/drawingml/2006/main" id="6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>
            <a:off x="2571750" y="390525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B8E69"/>
            </a:solidFill>
            <a:prstDash val="solid"/>
            <a:head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65669E-414E-45EE-92D3-A462C53D872D}"/>
              </a:ext>
            </a:extLst>
          </p:cNvPr>
          <p:cNvCxnSpPr>
            <a:stCxn xmlns:a="http://schemas.openxmlformats.org/drawingml/2006/main" id="7" idx="1"/>
            <a:endCxn xmlns:a="http://schemas.openxmlformats.org/drawingml/2006/main" id="4" idx="3"/>
          </p:cNvCxnSpPr>
          <p:nvPr/>
        </p:nvCxnSpPr>
        <p:spPr>
          <a:xfrm xmlns:a="http://schemas.openxmlformats.org/drawingml/2006/main" flipH="1" flipV="1">
            <a:off x="2571750" y="1905000"/>
            <a:ext cx="2571750" cy="10239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0B8E69"/>
            </a:solidFill>
            <a:prstDash val="solid"/>
            <a:head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4D97F6-682F-48AD-8BAD-7220CBEA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B2821"/>
                </a:solidFill>
              </a:defRPr>
            </a:pPr>
            <a:r>
              <a:rPr sz="2400" b="1">
                <a:solidFill>
                  <a:srgbClr val="0B2821"/>
                </a:solidFill>
              </a:rPr>
              <a:t>Static and dynamic data fusion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E28D8B-6B26-4598-A4A6-F97963333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0DA"/>
          </a:solidFill>
          <a:ln xmlns:a="http://schemas.openxmlformats.org/drawingml/2006/main" w="0">
            <a:solidFill>
              <a:srgbClr val="CFE0D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D0A725-0A68-4A16-8D88-AD1ACAF44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381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1">
                <a:solidFill>
                  <a:srgbClr val="607A72"/>
                </a:solidFill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607A72"/>
                </a:solidFill>
              </a:defRPr>
            </a:pPr>
            <a:r>
              <a:rPr sz="975" b="1">
                <a:solidFill>
                  <a:srgbClr val="607A72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67A1E2-FEFA-4E19-9502-20A67975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28750"/>
            <a:ext cx="1952625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11430">
            <a:solidFill>
              <a:srgbClr val="0B8E6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0B2821"/>
                </a:solidFill>
              </a:defRPr>
            </a:pPr>
            <a:r>
              <a:rPr sz="1425" b="1">
                <a:solidFill>
                  <a:srgbClr val="0B2821"/>
                </a:solidFill>
              </a:rPr>
              <a:t>Synthetic EHR</a:t>
            </a:r>
          </a:p>
          <a:p xmlns:a="http://schemas.openxmlformats.org/drawingml/2006/main">
            <a:pPr algn="ctr">
              <a:defRPr sz="1425" b="1">
                <a:solidFill>
                  <a:srgbClr val="0B2821"/>
                </a:solidFill>
              </a:defRPr>
            </a:pPr>
            <a:r>
              <a:rPr sz="1425" b="1">
                <a:solidFill>
                  <a:srgbClr val="0B2821"/>
                </a:solidFill>
              </a:rPr>
              <a:t>JSON fixture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03D616-A0CB-4418-AEAB-E66CC062B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29000"/>
            <a:ext cx="1952625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1D9"/>
          </a:solidFill>
          <a:ln xmlns:a="http://schemas.openxmlformats.org/drawingml/2006/main" w="11430">
            <a:solidFill>
              <a:srgbClr val="F1B86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0B2821"/>
                </a:solidFill>
              </a:defRPr>
            </a:pPr>
            <a:r>
              <a:rPr sz="1425" b="1">
                <a:solidFill>
                  <a:srgbClr val="0B2821"/>
                </a:solidFill>
              </a:rPr>
              <a:t>Simulated CGM</a:t>
            </a:r>
          </a:p>
          <a:p xmlns:a="http://schemas.openxmlformats.org/drawingml/2006/main">
            <a:pPr algn="ctr">
              <a:defRPr sz="1425" b="1">
                <a:solidFill>
                  <a:srgbClr val="0B2821"/>
                </a:solidFill>
              </a:defRPr>
            </a:pPr>
            <a:r>
              <a:rPr sz="1425" b="1">
                <a:solidFill>
                  <a:srgbClr val="0B2821"/>
                </a:solidFill>
              </a:rPr>
              <a:t>Python publisher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372B4B-8424-47F6-84EF-F8DB6705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429000"/>
            <a:ext cx="1619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E0D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0B2821"/>
                </a:solidFill>
              </a:defRPr>
            </a:pPr>
            <a:r>
              <a:rPr sz="1425" b="1">
                <a:solidFill>
                  <a:srgbClr val="0B2821"/>
                </a:solidFill>
              </a:rPr>
              <a:t>MQTT broker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94835E-B96D-4794-B9FC-7AA77CDE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38375"/>
            <a:ext cx="2095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071816"/>
          </a:solidFill>
          <a:ln xmlns:a="http://schemas.openxmlformats.org/drawingml/2006/main" w="11430">
            <a:solidFill>
              <a:srgbClr val="07181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Spring Boot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Digital twin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28B2A9-7090-44D3-AB7F-44555EA6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143375"/>
            <a:ext cx="16192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E0D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0B2821"/>
                </a:solidFill>
              </a:defRPr>
            </a:pPr>
            <a:r>
              <a:rPr sz="1275" b="1">
                <a:solidFill>
                  <a:srgbClr val="0B2821"/>
                </a:solidFill>
              </a:rPr>
              <a:t>H2 state</a:t>
            </a:r>
          </a:p>
          <a:p xmlns:a="http://schemas.openxmlformats.org/drawingml/2006/main">
            <a:pPr algn="ctr">
              <a:defRPr sz="1275" b="1">
                <a:solidFill>
                  <a:srgbClr val="0B2821"/>
                </a:solidFill>
              </a:defRPr>
            </a:pPr>
            <a:r>
              <a:rPr sz="1275" b="1">
                <a:solidFill>
                  <a:srgbClr val="0B2821"/>
                </a:solidFill>
              </a:rPr>
              <a:t>profile + timeline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F01724-5CBA-4A2C-A714-480D88A0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66875"/>
            <a:ext cx="1952625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11430">
            <a:solidFill>
              <a:srgbClr val="0B8E6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0B2821"/>
                </a:solidFill>
              </a:defRPr>
            </a:pPr>
            <a:r>
              <a:rPr sz="1425" b="1">
                <a:solidFill>
                  <a:srgbClr val="0B2821"/>
                </a:solidFill>
              </a:rPr>
              <a:t>FastAPI</a:t>
            </a:r>
          </a:p>
          <a:p xmlns:a="http://schemas.openxmlformats.org/drawingml/2006/main">
            <a:pPr algn="ctr">
              <a:defRPr sz="1425" b="1">
                <a:solidFill>
                  <a:srgbClr val="0B2821"/>
                </a:solidFill>
              </a:defRPr>
            </a:pPr>
            <a:r>
              <a:rPr sz="1425" b="1">
                <a:solidFill>
                  <a:srgbClr val="0B2821"/>
                </a:solidFill>
              </a:rPr>
              <a:t>43-feature 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0E40C0-5EB0-4DFA-BB0D-647594EE0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238500"/>
            <a:ext cx="166687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B8E6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0B2821"/>
                </a:solidFill>
              </a:defRPr>
            </a:pPr>
            <a:r>
              <a:rPr sz="1425" b="1">
                <a:solidFill>
                  <a:srgbClr val="0B2821"/>
                </a:solidFill>
              </a:rPr>
              <a:t>React dashboard</a:t>
            </a:r>
          </a:p>
          <a:p xmlns:a="http://schemas.openxmlformats.org/drawingml/2006/main">
            <a:pPr algn="ctr">
              <a:defRPr sz="1425" b="1">
                <a:solidFill>
                  <a:srgbClr val="0B2821"/>
                </a:solidFill>
              </a:defRPr>
            </a:pPr>
            <a:r>
              <a:rPr sz="1425" b="1">
                <a:solidFill>
                  <a:srgbClr val="0B2821"/>
                </a:solidFill>
              </a:rPr>
              <a:t>Doctor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79E935-DC6B-4969-9278-A4EFB9568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102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0">
                <a:solidFill>
                  <a:srgbClr val="607A72"/>
                </a:solidFill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07A72"/>
                </a:solidFill>
              </a:defRPr>
            </a:pPr>
            <a:r>
              <a:rPr sz="1200" b="0">
                <a:solidFill>
                  <a:srgbClr val="607A72"/>
                </a:solidFill>
              </a:rPr>
              <a:t>The browser calls Spring Boot only. The model service and MQTT broker stay behind the application boundary.</a:t>
            </a:r>
          </a:p>
        </p:txBody>
      </p:sp>
    </p:spTree>
    <p:extLst>
      <p:ext uri="{BB962C8B-B14F-4D97-AF65-F5344CB8AC3E}">
        <p14:creationId xmlns:p14="http://schemas.microsoft.com/office/powerpoint/2010/main" val="6470497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A89051-1950-4715-B24B-0915E3B5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B2821"/>
                </a:solidFill>
              </a:defRPr>
            </a:pPr>
            <a:r>
              <a:rPr sz="2400" b="1">
                <a:solidFill>
                  <a:srgbClr val="0B2821"/>
                </a:solidFill>
              </a:rPr>
              <a:t>Model inputs and prediction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3B0643-2102-475A-B80C-632CB1A6A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0DA"/>
          </a:solidFill>
          <a:ln xmlns:a="http://schemas.openxmlformats.org/drawingml/2006/main" w="0">
            <a:solidFill>
              <a:srgbClr val="CFE0D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D04430-118F-4906-9A5E-F9974C50E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381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1">
                <a:solidFill>
                  <a:srgbClr val="607A72"/>
                </a:solidFill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607A72"/>
                </a:solidFill>
              </a:defRPr>
            </a:pPr>
            <a:r>
              <a:rPr sz="975" b="1">
                <a:solidFill>
                  <a:srgbClr val="607A72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C66033-E4E5-4436-8C48-4B2CA9109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219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6150" b="1">
                <a:solidFill>
                  <a:srgbClr val="0B8E69"/>
                </a:solidFill>
              </a:defRPr>
            </a:defPPr>
          </a:lstStyle>
          <a:p xmlns:a="http://schemas.openxmlformats.org/drawingml/2006/main">
            <a:pPr algn="l">
              <a:defRPr sz="6150" b="1">
                <a:solidFill>
                  <a:srgbClr val="0B8E69"/>
                </a:solidFill>
              </a:defRPr>
            </a:pPr>
            <a:r>
              <a:rPr sz="6150" b="1">
                <a:solidFill>
                  <a:srgbClr val="0B8E69"/>
                </a:solidFill>
              </a:rPr>
              <a:t>43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49763C-9797-41C5-BF1E-5D35FDE2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B2821"/>
                </a:solidFill>
              </a:defRPr>
            </a:pPr>
            <a:r>
              <a:rPr sz="1650" b="1">
                <a:solidFill>
                  <a:srgbClr val="0B2821"/>
                </a:solidFill>
              </a:rPr>
              <a:t>numeric input features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EC176C-5E78-4DC1-9BA7-7958F99A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3333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607A72"/>
                </a:solidFill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07A72"/>
                </a:solidFill>
              </a:defRPr>
            </a:pPr>
            <a:r>
              <a:rPr sz="1575" b="0">
                <a:solidFill>
                  <a:srgbClr val="607A72"/>
                </a:solidFill>
              </a:rPr>
              <a:t>Recent glucose lags and changes carry the short-term signal. Static patient values add clinical context.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ACB311-7A60-48E9-9027-B10DB874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81125"/>
            <a:ext cx="223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0B8E69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B8E69"/>
                </a:solidFill>
              </a:defRPr>
            </a:pPr>
            <a:r>
              <a:rPr sz="1500" b="1">
                <a:solidFill>
                  <a:srgbClr val="0B8E69"/>
                </a:solidFill>
              </a:rPr>
              <a:t>CGM history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87154E-CDB5-499A-94C2-9300A13AD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381125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607A72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07A72"/>
                </a:solidFill>
              </a:defRPr>
            </a:pPr>
            <a:r>
              <a:rPr sz="1275" b="0">
                <a:solidFill>
                  <a:srgbClr val="607A72"/>
                </a:solidFill>
              </a:rPr>
              <a:t>Current value, 15/30/60/120-minute lags, variation and range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33DDC9-4D7F-4EF9-AABB-F9FF96BC4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47900"/>
            <a:ext cx="6334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0DA"/>
          </a:solidFill>
          <a:ln xmlns:a="http://schemas.openxmlformats.org/drawingml/2006/main" w="0">
            <a:solidFill>
              <a:srgbClr val="CFE0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9632D9-EE58-474A-A480-B88127972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47925"/>
            <a:ext cx="223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B2821"/>
                </a:solidFill>
              </a:defRPr>
            </a:pPr>
            <a:r>
              <a:rPr sz="1500" b="1">
                <a:solidFill>
                  <a:srgbClr val="0B2821"/>
                </a:solidFill>
              </a:rPr>
              <a:t>Meal + time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7EC6FF-837D-404B-B432-D582A1CB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47925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607A72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07A72"/>
                </a:solidFill>
              </a:defRPr>
            </a:pPr>
            <a:r>
              <a:rPr sz="1275" b="0">
                <a:solidFill>
                  <a:srgbClr val="607A72"/>
                </a:solidFill>
              </a:rPr>
              <a:t>Meal text signals, time of day and minutes since the previous meal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F36902-8CCA-43EC-9AC2-1BCF40FD6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14700"/>
            <a:ext cx="6334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0DA"/>
          </a:solidFill>
          <a:ln xmlns:a="http://schemas.openxmlformats.org/drawingml/2006/main" w="0">
            <a:solidFill>
              <a:srgbClr val="CFE0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1F3169-1C31-4DAB-AD8B-CCDA2BE6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14725"/>
            <a:ext cx="223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B2821"/>
                </a:solidFill>
              </a:defRPr>
            </a:pPr>
            <a:r>
              <a:rPr sz="1500" b="1">
                <a:solidFill>
                  <a:srgbClr val="0B2821"/>
                </a:solidFill>
              </a:rPr>
              <a:t>Patient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7F5DE7-3BE3-4C47-82FD-C770A5656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514725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607A72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07A72"/>
                </a:solidFill>
              </a:defRPr>
            </a:pPr>
            <a:r>
              <a:rPr sz="1275" b="0">
                <a:solidFill>
                  <a:srgbClr val="607A72"/>
                </a:solidFill>
              </a:rPr>
              <a:t>Age, sex, BMI, diabetes duration, HbA1c and fasting glucose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787452-E1C3-43AC-8F9F-8D230E0B8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81500"/>
            <a:ext cx="6334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0DA"/>
          </a:solidFill>
          <a:ln xmlns:a="http://schemas.openxmlformats.org/drawingml/2006/main" w="0">
            <a:solidFill>
              <a:srgbClr val="CFE0D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D4F3AD-5D38-4D06-8849-785C6405C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81525"/>
            <a:ext cx="223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B2821"/>
                </a:solidFill>
              </a:defRPr>
            </a:pPr>
            <a:r>
              <a:rPr sz="1500" b="1">
                <a:solidFill>
                  <a:srgbClr val="0B2821"/>
                </a:solidFill>
              </a:rPr>
              <a:t>Medication context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0BC675-9DD0-4D1A-A516-7045A20C1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581525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607A72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07A72"/>
                </a:solidFill>
              </a:defRPr>
            </a:pPr>
            <a:r>
              <a:rPr sz="1275" b="0">
                <a:solidFill>
                  <a:srgbClr val="607A72"/>
                </a:solidFill>
              </a:rPr>
              <a:t>Recorded insulin and non-insulin medication event flags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2F2DC6-476D-4F93-8BD5-975B3ADB3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848350"/>
            <a:ext cx="6334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B8E69"/>
                </a:solidFill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0B8E69"/>
                </a:solidFill>
              </a:defRPr>
            </a:pPr>
            <a:r>
              <a:rPr sz="1050" b="1">
                <a:solidFill>
                  <a:srgbClr val="0B8E69"/>
                </a:solidFill>
              </a:rPr>
              <a:t>Pipeline: median imputation · missingness indicators · standard scaling · Logistic Regression</a:t>
            </a:r>
          </a:p>
        </p:txBody>
      </p:sp>
    </p:spTree>
    <p:extLst>
      <p:ext uri="{BB962C8B-B14F-4D97-AF65-F5344CB8AC3E}">
        <p14:creationId xmlns:p14="http://schemas.microsoft.com/office/powerpoint/2010/main" val="19603749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936533-27BD-49D3-883F-5CFE523B7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B2821"/>
                </a:solidFill>
              </a:defRPr>
            </a:pPr>
            <a:r>
              <a:rPr sz="2400" b="1">
                <a:solidFill>
                  <a:srgbClr val="0B2821"/>
                </a:solidFill>
              </a:rPr>
              <a:t>Patient-level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D7FD6D-1FF4-48A0-994C-15FE0ED77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0DA"/>
          </a:solidFill>
          <a:ln xmlns:a="http://schemas.openxmlformats.org/drawingml/2006/main" w="0">
            <a:solidFill>
              <a:srgbClr val="CFE0D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BE5DD-1781-4AB4-9C76-01675896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381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1">
                <a:solidFill>
                  <a:srgbClr val="607A72"/>
                </a:solidFill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607A72"/>
                </a:solidFill>
              </a:defRPr>
            </a:pPr>
            <a:r>
              <a:rPr sz="975" b="1">
                <a:solidFill>
                  <a:srgbClr val="607A72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6A48A4-9A44-4C7E-940C-86F1D610F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581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607A72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07A72"/>
                </a:solidFill>
              </a:defRPr>
            </a:pPr>
            <a:r>
              <a:rPr sz="1500" b="0">
                <a:solidFill>
                  <a:srgbClr val="607A72"/>
                </a:solidFill>
              </a:rPr>
              <a:t>Each patient belongs to one split only, which reduces leakage between training and evaluation.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91AC4DB5-6DC4-4C8E-B4DF-E8A3C717C898}"/>
              </a:ext>
            </a:extLst>
          </p:cNvPr>
          <p:cNvGraphicFramePr/>
          <p:nvPr/>
        </p:nvGraphicFramePr>
        <p:xfrm>
          <a:off xmlns:a="http://schemas.openxmlformats.org/drawingml/2006/main" x="762000" y="2143125"/>
          <a:ext xmlns:a="http://schemas.openxmlformats.org/drawingml/2006/main" cx="66675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62e83137ad24710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878443-5BF4-49CF-8181-779248D2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05000"/>
            <a:ext cx="24288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800" b="1">
                <a:solidFill>
                  <a:srgbClr val="0B8E69"/>
                </a:solidFill>
              </a:defRPr>
            </a:defPPr>
          </a:lstStyle>
          <a:p xmlns:a="http://schemas.openxmlformats.org/drawingml/2006/main">
            <a:pPr algn="ctr">
              <a:defRPr sz="4800" b="1">
                <a:solidFill>
                  <a:srgbClr val="0B8E69"/>
                </a:solidFill>
              </a:defRPr>
            </a:pPr>
            <a:r>
              <a:rPr sz="4800" b="1">
                <a:solidFill>
                  <a:srgbClr val="0B8E69"/>
                </a:solidFill>
              </a:rPr>
              <a:t>0.757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FE4B76-203D-4F45-957A-3B3872FA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781300"/>
            <a:ext cx="2428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0B2821"/>
                </a:solidFill>
              </a:defRPr>
            </a:pPr>
            <a:r>
              <a:rPr sz="1350" b="1">
                <a:solidFill>
                  <a:srgbClr val="0B2821"/>
                </a:solidFill>
              </a:rPr>
              <a:t>test ROC AUC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0B4FF9-786F-441E-9001-51F9C413F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76625"/>
            <a:ext cx="1952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0DA"/>
          </a:solidFill>
          <a:ln xmlns:a="http://schemas.openxmlformats.org/drawingml/2006/main" w="0">
            <a:solidFill>
              <a:srgbClr val="CFE0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13191E-3696-4814-90F5-43453FBF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762375"/>
            <a:ext cx="2809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607A72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07A72"/>
                </a:solidFill>
              </a:defRPr>
            </a:pPr>
            <a:r>
              <a:rPr sz="1350" b="0">
                <a:solidFill>
                  <a:srgbClr val="607A72"/>
                </a:solidFill>
              </a:rPr>
              <a:t>These metrics measure prototype discrimination. They do not establish clinical safety, calibration or patient benefit.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5FA2F1-17FB-4358-B361-FBC3EF0E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19800"/>
            <a:ext cx="590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607A72"/>
                </a:solidFill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07A72"/>
                </a:solidFill>
              </a:defRPr>
            </a:pPr>
            <a:r>
              <a:rPr sz="900" b="0">
                <a:solidFill>
                  <a:srgbClr val="607A72"/>
                </a:solidFill>
              </a:rPr>
              <a:t>Source: reproducible baseline evaluation in this repository</a:t>
            </a:r>
          </a:p>
        </p:txBody>
      </p:sp>
    </p:spTree>
    <p:extLst>
      <p:ext uri="{BB962C8B-B14F-4D97-AF65-F5344CB8AC3E}">
        <p14:creationId xmlns:p14="http://schemas.microsoft.com/office/powerpoint/2010/main" val="10355266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5B23E4-612B-4687-B242-46CFAE471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B2821"/>
                </a:solidFill>
              </a:defRPr>
            </a:pPr>
            <a:r>
              <a:rPr sz="2400" b="1">
                <a:solidFill>
                  <a:srgbClr val="0B2821"/>
                </a:solidFill>
              </a:rPr>
              <a:t>Doctor dashboard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00EF04-A42F-4BDA-A73B-A3F17F3D7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0DA"/>
          </a:solidFill>
          <a:ln xmlns:a="http://schemas.openxmlformats.org/drawingml/2006/main" w="0">
            <a:solidFill>
              <a:srgbClr val="CFE0D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5B5209-4358-4D6D-8A95-FF8BABF1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381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1">
                <a:solidFill>
                  <a:srgbClr val="607A72"/>
                </a:solidFill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607A72"/>
                </a:solidFill>
              </a:defRPr>
            </a:pPr>
            <a:r>
              <a:rPr sz="975" b="1">
                <a:solidFill>
                  <a:srgbClr val="607A72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0B1529-120A-4153-A617-9981F1EB0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742950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E0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BB93B0-3D4A-47DF-B49A-D5456246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71625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B2821"/>
                </a:solidFill>
              </a:defRPr>
            </a:pPr>
            <a:r>
              <a:rPr sz="1950" b="1">
                <a:solidFill>
                  <a:srgbClr val="0B2821"/>
                </a:solidFill>
              </a:rPr>
              <a:t>Virtual Patient Monitor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6A7B0D-9688-4E0D-9A48-4C230AC04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336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0B8E69"/>
                </a:solidFill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0B8E69"/>
                </a:solidFill>
              </a:defRPr>
            </a:pPr>
            <a:r>
              <a:rPr sz="900" b="1">
                <a:solidFill>
                  <a:srgbClr val="0B8E69"/>
                </a:solidFill>
              </a:rPr>
              <a:t>SYNTHETIC DEMONSTRATION PATIENT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0A5B1A-0E31-43EA-8D5C-9CF34BF9B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71750"/>
            <a:ext cx="676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0DA"/>
          </a:solidFill>
          <a:ln xmlns:a="http://schemas.openxmlformats.org/drawingml/2006/main" w="0">
            <a:solidFill>
              <a:srgbClr val="CFE0D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E71C7A-EEF3-40CA-BD03-38A16176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0"/>
            <a:ext cx="142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l">
              <a:defRPr sz="3900" b="1">
                <a:solidFill>
                  <a:srgbClr val="0B2821"/>
                </a:solidFill>
              </a:defRPr>
            </a:pPr>
            <a:r>
              <a:rPr sz="3900" b="1">
                <a:solidFill>
                  <a:srgbClr val="0B2821"/>
                </a:solidFill>
              </a:rPr>
              <a:t>142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E5DDA4-9D7B-47AD-BD29-0F75E9B0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004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607A72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07A72"/>
                </a:solidFill>
              </a:defRPr>
            </a:pPr>
            <a:r>
              <a:rPr sz="1125" b="0">
                <a:solidFill>
                  <a:srgbClr val="607A72"/>
                </a:solidFill>
              </a:rPr>
              <a:t>mg/dL current glucose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623F61-3B6B-4796-842D-9B5002172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57500"/>
            <a:ext cx="1619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900" b="1">
                <a:solidFill>
                  <a:srgbClr val="F1B868"/>
                </a:solidFill>
              </a:defRPr>
            </a:defPPr>
          </a:lstStyle>
          <a:p xmlns:a="http://schemas.openxmlformats.org/drawingml/2006/main">
            <a:pPr algn="ctr">
              <a:defRPr sz="3900" b="1">
                <a:solidFill>
                  <a:srgbClr val="F1B868"/>
                </a:solidFill>
              </a:defRPr>
            </a:pPr>
            <a:r>
              <a:rPr sz="3900" b="1">
                <a:solidFill>
                  <a:srgbClr val="F1B868"/>
                </a:solidFill>
              </a:rPr>
              <a:t>36%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76C770-F5B6-4539-A5BE-454474CF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6004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0B2821"/>
                </a:solidFill>
              </a:defRPr>
            </a:pPr>
            <a:r>
              <a:rPr sz="1125" b="1">
                <a:solidFill>
                  <a:srgbClr val="0B2821"/>
                </a:solidFill>
              </a:rPr>
              <a:t>moderate spike risk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9F3D19-5012-4342-9DFA-B67D3A807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338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607A72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607A72"/>
                </a:solidFill>
              </a:defRPr>
            </a:pPr>
            <a:r>
              <a:rPr sz="1125" b="1">
                <a:solidFill>
                  <a:srgbClr val="607A72"/>
                </a:solidFill>
              </a:rPr>
              <a:t>CGM timeline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15A0F6-1EAE-4D16-8132-5DC4016F8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57813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E69"/>
          </a:solidFill>
          <a:ln xmlns:a="http://schemas.openxmlformats.org/drawingml/2006/main" w="0">
            <a:solidFill>
              <a:srgbClr val="0B8E6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0FAF6E-5F61-4AEF-9F12-1DA7AA2F9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334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E69"/>
          </a:solidFill>
          <a:ln xmlns:a="http://schemas.openxmlformats.org/drawingml/2006/main" w="0">
            <a:solidFill>
              <a:srgbClr val="0B8E6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0658BB-20C0-4658-B814-C49A91B78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10188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E69"/>
          </a:solidFill>
          <a:ln xmlns:a="http://schemas.openxmlformats.org/drawingml/2006/main" w="0">
            <a:solidFill>
              <a:srgbClr val="0B8E6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CB88CB-5F05-464A-A4AA-2C982F55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2863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E69"/>
          </a:solidFill>
          <a:ln xmlns:a="http://schemas.openxmlformats.org/drawingml/2006/main" w="0">
            <a:solidFill>
              <a:srgbClr val="0B8E6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E169B5-9130-4A4F-98E0-4F9C923C0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250656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E69"/>
          </a:solidFill>
          <a:ln xmlns:a="http://schemas.openxmlformats.org/drawingml/2006/main" w="0">
            <a:solidFill>
              <a:srgbClr val="0B8E6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DBC0E8-C992-444E-8C85-E8DFA770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191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E69"/>
          </a:solidFill>
          <a:ln xmlns:a="http://schemas.openxmlformats.org/drawingml/2006/main" w="0">
            <a:solidFill>
              <a:srgbClr val="0B8E6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D9D019-D45B-4CCD-9C04-03D5087F0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131594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E69"/>
          </a:solidFill>
          <a:ln xmlns:a="http://schemas.openxmlformats.org/drawingml/2006/main" w="0">
            <a:solidFill>
              <a:srgbClr val="0B8E6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77F5D2-D973-4CB2-8897-A5D5839CC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072063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E69"/>
          </a:solidFill>
          <a:ln xmlns:a="http://schemas.openxmlformats.org/drawingml/2006/main" w="0">
            <a:solidFill>
              <a:srgbClr val="0B8E6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A5D488-BB9B-4B47-9A9E-996EE9A11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00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E69"/>
          </a:solidFill>
          <a:ln xmlns:a="http://schemas.openxmlformats.org/drawingml/2006/main" w="0">
            <a:solidFill>
              <a:srgbClr val="0B8E6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243906-C562-4EE7-B116-7E077BC39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57162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B2821"/>
                </a:solidFill>
              </a:defRPr>
            </a:pPr>
            <a:r>
              <a:rPr sz="1800" b="1">
                <a:solidFill>
                  <a:srgbClr val="0B2821"/>
                </a:solidFill>
              </a:rPr>
              <a:t>The working React screen shows the same values through the live Spring Boot API.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3A979D-EBD2-4F6D-9F5F-FAD467D3E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05125"/>
            <a:ext cx="33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B8E69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0B8E69"/>
                </a:solidFill>
              </a:defRPr>
            </a:pPr>
            <a:r>
              <a:rPr sz="975" b="1">
                <a:solidFill>
                  <a:srgbClr val="0B8E69"/>
                </a:solidFill>
              </a:rPr>
              <a:t>01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D3D30B-41FE-4B26-8771-4A1827C2F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194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607A72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07A72"/>
                </a:solidFill>
              </a:defRPr>
            </a:pPr>
            <a:r>
              <a:rPr sz="1200" b="0">
                <a:solidFill>
                  <a:srgbClr val="607A72"/>
                </a:solidFill>
              </a:rPr>
              <a:t>Risk text appears with colour for accessibility.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519D58-CD8B-4E08-8F6C-775C2E413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33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B8E69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0B8E69"/>
                </a:solidFill>
              </a:defRPr>
            </a:pPr>
            <a:r>
              <a:rPr sz="975" b="1">
                <a:solidFill>
                  <a:srgbClr val="0B8E69"/>
                </a:solidFill>
              </a:rPr>
              <a:t>02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0A415F-9B0B-405E-87F9-436160AE6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052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607A72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07A72"/>
                </a:solidFill>
              </a:defRPr>
            </a:pPr>
            <a:r>
              <a:rPr sz="1200" b="0">
                <a:solidFill>
                  <a:srgbClr val="607A72"/>
                </a:solidFill>
              </a:rPr>
              <a:t>Model factors describe influence, not clinical cause.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B02C6B-FC54-4C4B-B8DC-B9ACF79C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76725"/>
            <a:ext cx="33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B8E69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0B8E69"/>
                </a:solidFill>
              </a:defRPr>
            </a:pPr>
            <a:r>
              <a:rPr sz="975" b="1">
                <a:solidFill>
                  <a:srgbClr val="0B8E69"/>
                </a:solidFill>
              </a:rPr>
              <a:t>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7E1CB2-68A0-4AB3-A1B6-F2FAD4BAF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1910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607A72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07A72"/>
                </a:solidFill>
              </a:defRPr>
            </a:pPr>
            <a:r>
              <a:rPr sz="1200" b="0">
                <a:solidFill>
                  <a:srgbClr val="607A72"/>
                </a:solidFill>
              </a:rPr>
              <a:t>Unavailable services never produce a fake score.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5464AB-B59C-4F5C-9401-C886F1DF6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62525"/>
            <a:ext cx="33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B8E69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0B8E69"/>
                </a:solidFill>
              </a:defRPr>
            </a:pPr>
            <a:r>
              <a:rPr sz="975" b="1">
                <a:solidFill>
                  <a:srgbClr val="0B8E69"/>
                </a:solidFill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553460-9598-418B-A6BA-3833A7057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8768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607A72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07A72"/>
                </a:solidFill>
              </a:defRPr>
            </a:pPr>
            <a:r>
              <a:rPr sz="1200" b="0">
                <a:solidFill>
                  <a:srgbClr val="607A72"/>
                </a:solidFill>
              </a:rPr>
              <a:t>The synthetic and research-only labels stay visible.</a:t>
            </a:r>
          </a:p>
        </p:txBody>
      </p:sp>
    </p:spTree>
    <p:extLst>
      <p:ext uri="{BB962C8B-B14F-4D97-AF65-F5344CB8AC3E}">
        <p14:creationId xmlns:p14="http://schemas.microsoft.com/office/powerpoint/2010/main" val="15142561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98C7DB-8423-4243-938B-0A14CE0EB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B2821"/>
                </a:solidFill>
              </a:defRPr>
            </a:pPr>
            <a:r>
              <a:rPr sz="2400" b="1">
                <a:solidFill>
                  <a:srgbClr val="0B2821"/>
                </a:solidFill>
              </a:rPr>
              <a:t>Privacy, safety and responsible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E9484F-9D7C-499B-BB59-E73E1D76B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0DA"/>
          </a:solidFill>
          <a:ln xmlns:a="http://schemas.openxmlformats.org/drawingml/2006/main" w="0">
            <a:solidFill>
              <a:srgbClr val="CFE0D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AE1790-DCEA-40AE-89E2-569901F6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381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1">
                <a:solidFill>
                  <a:srgbClr val="607A72"/>
                </a:solidFill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607A72"/>
                </a:solidFill>
              </a:defRPr>
            </a:pPr>
            <a:r>
              <a:rPr sz="975" b="1">
                <a:solidFill>
                  <a:srgbClr val="607A72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BA5AD5-243E-4E64-84E5-9B217E2A0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763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B8E69"/>
                </a:solidFill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0B8E69"/>
                </a:solidFill>
              </a:defRPr>
            </a:pPr>
            <a:r>
              <a:rPr sz="1050" b="1">
                <a:solidFill>
                  <a:srgbClr val="0B8E69"/>
                </a:solidFill>
              </a:rPr>
              <a:t>PUBLIC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9832DD-D3BA-4509-8DB3-98BBF1733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52625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B2821"/>
                </a:solidFill>
              </a:defRPr>
            </a:pPr>
            <a:r>
              <a:rPr sz="2550" b="1">
                <a:solidFill>
                  <a:srgbClr val="0B2821"/>
                </a:solidFill>
              </a:rPr>
              <a:t>One fully synthetic patient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395BC6-AD3C-47EA-81D2-40214795E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14625"/>
            <a:ext cx="4476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607A72"/>
                </a:solidFill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07A72"/>
                </a:solidFill>
              </a:defRPr>
            </a:pPr>
            <a:r>
              <a:rPr sz="1575" b="0">
                <a:solidFill>
                  <a:srgbClr val="607A72"/>
                </a:solidFill>
              </a:rPr>
              <a:t>The repository includes a generated profile and simulated CGM. It contains no identifiable patient record.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679D7B-EA60-41BF-8B6D-34E86C99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76375"/>
            <a:ext cx="1905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BD2831-CDBE-4669-A706-D98577AE7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4763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B8E69"/>
                </a:solidFill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0B8E69"/>
                </a:solidFill>
              </a:defRPr>
            </a:pPr>
            <a:r>
              <a:rPr sz="1050" b="1">
                <a:solidFill>
                  <a:srgbClr val="0B8E69"/>
                </a:solidFill>
              </a:rPr>
              <a:t>RESEARCH TRAINING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07EB47-B3D9-4936-8513-5C124D336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52625"/>
            <a:ext cx="4572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B2821"/>
                </a:solidFill>
              </a:defRPr>
            </a:pPr>
            <a:r>
              <a:rPr sz="2550" b="1">
                <a:solidFill>
                  <a:srgbClr val="0B2821"/>
                </a:solidFill>
              </a:rPr>
              <a:t>Raw patient-level files stay outside Git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258FCF-9211-4BDC-8916-642304C0F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905125"/>
            <a:ext cx="4572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607A72"/>
                </a:solidFill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07A72"/>
                </a:solidFill>
              </a:defRPr>
            </a:pPr>
            <a:r>
              <a:rPr sz="1575" b="0">
                <a:solidFill>
                  <a:srgbClr val="607A72"/>
                </a:solidFill>
              </a:rPr>
              <a:t>The committed artifact contains only fitted coefficients and aggregate metadata. Source data terms remain separate from the MIT code licence.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B8BF94-0E7B-485B-B69E-EB6DC8B2B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715000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E87868"/>
                </a:solidFill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E87868"/>
                </a:solidFill>
              </a:defRPr>
            </a:pPr>
            <a:r>
              <a:rPr sz="1425" b="1">
                <a:solidFill>
                  <a:srgbClr val="E87868"/>
                </a:solidFill>
              </a:rPr>
              <a:t>Not clinically validated · Not for diagnosis, treatment, dosing or emergency decisions</a:t>
            </a:r>
          </a:p>
        </p:txBody>
      </p:sp>
    </p:spTree>
    <p:extLst>
      <p:ext uri="{BB962C8B-B14F-4D97-AF65-F5344CB8AC3E}">
        <p14:creationId xmlns:p14="http://schemas.microsoft.com/office/powerpoint/2010/main" val="9953115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81F160-01B2-41AD-9FA1-044AF409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B2821"/>
                </a:solidFill>
              </a:defRPr>
            </a:pPr>
            <a:r>
              <a:rPr sz="2400" b="1">
                <a:solidFill>
                  <a:srgbClr val="0B2821"/>
                </a:solidFill>
              </a:rPr>
              <a:t>Demonstration and submission readiness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B99FE4-8211-4172-86F8-D2296DE5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0DA"/>
          </a:solidFill>
          <a:ln xmlns:a="http://schemas.openxmlformats.org/drawingml/2006/main" w="0">
            <a:solidFill>
              <a:srgbClr val="CFE0D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AAD017-44E0-4142-B849-DB4EE5F8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381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1">
                <a:solidFill>
                  <a:srgbClr val="607A72"/>
                </a:solidFill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607A72"/>
                </a:solidFill>
              </a:defRPr>
            </a:pPr>
            <a:r>
              <a:rPr sz="975" b="1">
                <a:solidFill>
                  <a:srgbClr val="607A72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D9391F-0CEE-40B1-AFE2-B70EA6B9D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28750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B8E69"/>
                </a:solidFill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0B8E69"/>
                </a:solidFill>
              </a:defRPr>
            </a:pPr>
            <a:r>
              <a:rPr sz="1050" b="1">
                <a:solidFill>
                  <a:srgbClr val="0B8E69"/>
                </a:solidFill>
              </a:rPr>
              <a:t>RUN THE PROTOTYPE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269C2B-D461-4C0D-888F-D54DBDE05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1">
                <a:solidFill>
                  <a:srgbClr val="0B8E69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B8E69"/>
                </a:solidFill>
              </a:defRPr>
            </a:pPr>
            <a:r>
              <a:rPr sz="2100" b="1">
                <a:solidFill>
                  <a:srgbClr val="0B8E69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9800B4-CD58-4C90-8D17-4EDD4D3D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00025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0B2821"/>
                </a:solidFill>
              </a:defRPr>
            </a:pPr>
            <a:r>
              <a:rPr sz="1725" b="1">
                <a:solidFill>
                  <a:srgbClr val="0B2821"/>
                </a:solidFill>
              </a:rPr>
              <a:t>Start Docker Compose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01E02E-855C-473B-8BEE-A272B97B2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1">
                <a:solidFill>
                  <a:srgbClr val="0B8E69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B8E69"/>
                </a:solidFill>
              </a:defRPr>
            </a:pPr>
            <a:r>
              <a:rPr sz="2100" b="1">
                <a:solidFill>
                  <a:srgbClr val="0B8E69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E79687-8FFD-412A-95A4-30B62847C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78130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0B2821"/>
                </a:solidFill>
              </a:defRPr>
            </a:pPr>
            <a:r>
              <a:rPr sz="1725" b="1">
                <a:solidFill>
                  <a:srgbClr val="0B2821"/>
                </a:solidFill>
              </a:rPr>
              <a:t>Open localhost:3000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8D9528-683E-48F4-B3F9-BB34FD62F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1">
                <a:solidFill>
                  <a:srgbClr val="0B8E69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B8E69"/>
                </a:solidFill>
              </a:defRPr>
            </a:pPr>
            <a:r>
              <a:rPr sz="2100" b="1">
                <a:solidFill>
                  <a:srgbClr val="0B8E69"/>
                </a:solidFill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84AFF1-D43F-4FB8-853B-C346256A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56235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0B2821"/>
                </a:solidFill>
              </a:defRPr>
            </a:pPr>
            <a:r>
              <a:rPr sz="1725" b="1">
                <a:solidFill>
                  <a:srgbClr val="0B2821"/>
                </a:solidFill>
              </a:rPr>
              <a:t>Refresh the prediction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A7B078-18BA-4931-8E93-CCED61AFF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43400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1">
                <a:solidFill>
                  <a:srgbClr val="0B8E69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B8E69"/>
                </a:solidFill>
              </a:defRPr>
            </a:pPr>
            <a:r>
              <a:rPr sz="2100" b="1">
                <a:solidFill>
                  <a:srgbClr val="0B8E69"/>
                </a:solidFill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A6461F-C34A-4C5F-A9B9-CACB1BB0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34340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0B2821"/>
                </a:solidFill>
              </a:defRPr>
            </a:pPr>
            <a:r>
              <a:rPr sz="1725" b="1">
                <a:solidFill>
                  <a:srgbClr val="0B2821"/>
                </a:solidFill>
              </a:rPr>
              <a:t>Watch simulated CGM update the twin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8C0FFA-870C-4CCA-BEC8-E24980DD5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76375"/>
            <a:ext cx="1905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B47FF6-F886-4208-96C8-EF398BF4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428750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E87868"/>
                </a:solidFill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E87868"/>
                </a:solidFill>
              </a:defRPr>
            </a:pPr>
            <a:r>
              <a:rPr sz="1050" b="1">
                <a:solidFill>
                  <a:srgbClr val="E87868"/>
                </a:solidFill>
              </a:rPr>
              <a:t>REMAINING TEAM ACTIONS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575D59-CC7E-4406-91CF-A9979A6BB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38350"/>
            <a:ext cx="28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E87868"/>
                </a:solidFill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E87868"/>
                </a:solidFill>
              </a:defRPr>
            </a:pPr>
            <a:r>
              <a:rPr sz="1800" b="0">
                <a:solidFill>
                  <a:srgbClr val="E87868"/>
                </a:solidFill>
              </a:rPr>
              <a:t>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C31C1D-87DA-4D9D-8689-1CB002FD1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98120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0B2821"/>
                </a:solidFill>
              </a:defRPr>
            </a:pPr>
            <a:r>
              <a:rPr sz="1575" b="0">
                <a:solidFill>
                  <a:srgbClr val="0B2821"/>
                </a:solidFill>
              </a:rPr>
              <a:t>Add the official team and college details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0476D2-93F8-497F-AF12-DBB83EB3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00350"/>
            <a:ext cx="28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E87868"/>
                </a:solidFill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E87868"/>
                </a:solidFill>
              </a:defRPr>
            </a:pPr>
            <a:r>
              <a:rPr sz="1800" b="0">
                <a:solidFill>
                  <a:srgbClr val="E87868"/>
                </a:solidFill>
              </a:rPr>
              <a:t>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13AE10-E65E-4B28-A848-CB0D66E86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74320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0B2821"/>
                </a:solidFill>
              </a:defRPr>
            </a:pPr>
            <a:r>
              <a:rPr sz="1575" b="0">
                <a:solidFill>
                  <a:srgbClr val="0B2821"/>
                </a:solidFill>
              </a:rPr>
              <a:t>Record and link the 20-minute demo video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8842C0-BEE5-4474-8FA0-B518084C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62350"/>
            <a:ext cx="28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E87868"/>
                </a:solidFill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E87868"/>
                </a:solidFill>
              </a:defRPr>
            </a:pPr>
            <a:r>
              <a:rPr sz="1800" b="0">
                <a:solidFill>
                  <a:srgbClr val="E87868"/>
                </a:solidFill>
              </a:rPr>
              <a:t>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4F4B5D-3F53-430E-A901-15AF29222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50520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0B2821"/>
                </a:solidFill>
              </a:defRPr>
            </a:pPr>
            <a:r>
              <a:rPr sz="1575" b="0">
                <a:solidFill>
                  <a:srgbClr val="0B2821"/>
                </a:solidFill>
              </a:rPr>
              <a:t>Complete the clinical language 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E4DF0D-0B98-4982-B55C-60B1DA416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24350"/>
            <a:ext cx="28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E87868"/>
                </a:solidFill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E87868"/>
                </a:solidFill>
              </a:defRPr>
            </a:pPr>
            <a:r>
              <a:rPr sz="1800" b="0">
                <a:solidFill>
                  <a:srgbClr val="E87868"/>
                </a:solidFill>
              </a:rPr>
              <a:t>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E2B048-62AB-4154-AB0B-988F7C12C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26720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0B2821"/>
                </a:solidFill>
              </a:defRPr>
            </a:pPr>
            <a:r>
              <a:rPr sz="1575" b="0">
                <a:solidFill>
                  <a:srgbClr val="0B2821"/>
                </a:solidFill>
              </a:rPr>
              <a:t>Confirm the public repository from a clean computer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81850A-E3C7-469B-8B77-F28FBA1BB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57875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0B8E69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0B8E69"/>
                </a:solidFill>
              </a:defRPr>
            </a:pPr>
            <a:r>
              <a:rPr sz="1200" b="1">
                <a:solidFill>
                  <a:srgbClr val="0B8E69"/>
                </a:solidFill>
              </a:rPr>
              <a:t>Code, tests, licence, data guide, model card and architecture source are ready.</a:t>
            </a:r>
          </a:p>
        </p:txBody>
      </p:sp>
    </p:spTree>
    <p:extLst>
      <p:ext uri="{BB962C8B-B14F-4D97-AF65-F5344CB8AC3E}">
        <p14:creationId xmlns:p14="http://schemas.microsoft.com/office/powerpoint/2010/main" val="9157518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2026-10-09T17:34:28.3020000Z</dcterms:created>
  <dcterms:modified xsi:type="dcterms:W3CDTF">2026-10-09T17:34:28.3020000Z</dcterms:modified>
</coreProperties>
</file>